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111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.png"/><Relationship Id="rId10" Type="http://schemas.openxmlformats.org/officeDocument/2006/relationships/image" Target="../media/image21.png"/><Relationship Id="rId4" Type="http://schemas.openxmlformats.org/officeDocument/2006/relationships/image" Target="../media/image16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8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5" Type="http://schemas.openxmlformats.org/officeDocument/2006/relationships/image" Target="../media/image34.png"/><Relationship Id="rId10" Type="http://schemas.openxmlformats.org/officeDocument/2006/relationships/image" Target="../media/image1.png"/><Relationship Id="rId19" Type="http://schemas.openxmlformats.org/officeDocument/2006/relationships/image" Target="../media/image38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" Type="http://schemas.openxmlformats.org/officeDocument/2006/relationships/image" Target="../media/image8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46.png"/><Relationship Id="rId5" Type="http://schemas.openxmlformats.org/officeDocument/2006/relationships/image" Target="../media/image41.png"/><Relationship Id="rId15" Type="http://schemas.openxmlformats.org/officeDocument/2006/relationships/image" Target="../media/image50.png"/><Relationship Id="rId10" Type="http://schemas.openxmlformats.org/officeDocument/2006/relationships/image" Target="../media/image45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3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4" Type="http://schemas.openxmlformats.org/officeDocument/2006/relationships/image" Target="../media/image1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4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1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3" Type="http://schemas.openxmlformats.org/officeDocument/2006/relationships/image" Target="../media/image76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" Type="http://schemas.openxmlformats.org/officeDocument/2006/relationships/image" Target="../media/image8.png"/><Relationship Id="rId16" Type="http://schemas.openxmlformats.org/officeDocument/2006/relationships/image" Target="../media/image88.png"/><Relationship Id="rId20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83.png"/><Relationship Id="rId5" Type="http://schemas.openxmlformats.org/officeDocument/2006/relationships/image" Target="../media/image78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19" Type="http://schemas.openxmlformats.org/officeDocument/2006/relationships/image" Target="../media/image91.png"/><Relationship Id="rId4" Type="http://schemas.openxmlformats.org/officeDocument/2006/relationships/image" Target="../media/image77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2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101.png"/><Relationship Id="rId17" Type="http://schemas.openxmlformats.org/officeDocument/2006/relationships/image" Target="../media/image106.png"/><Relationship Id="rId2" Type="http://schemas.openxmlformats.org/officeDocument/2006/relationships/image" Target="../media/image8.png"/><Relationship Id="rId16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11" Type="http://schemas.openxmlformats.org/officeDocument/2006/relationships/image" Target="../media/image1.png"/><Relationship Id="rId5" Type="http://schemas.openxmlformats.org/officeDocument/2006/relationships/image" Target="../media/image95.png"/><Relationship Id="rId15" Type="http://schemas.openxmlformats.org/officeDocument/2006/relationships/image" Target="../media/image104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7.png"/><Relationship Id="rId7" Type="http://schemas.openxmlformats.org/officeDocument/2006/relationships/image" Target="../media/image1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.png"/><Relationship Id="rId10" Type="http://schemas.openxmlformats.org/officeDocument/2006/relationships/image" Target="../media/image113.png"/><Relationship Id="rId4" Type="http://schemas.openxmlformats.org/officeDocument/2006/relationships/image" Target="../media/image108.png"/><Relationship Id="rId9" Type="http://schemas.openxmlformats.org/officeDocument/2006/relationships/image" Target="../media/image11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5.png"/><Relationship Id="rId7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Relationship Id="rId9" Type="http://schemas.openxmlformats.org/officeDocument/2006/relationships/image" Target="../media/image1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.png"/><Relationship Id="rId7" Type="http://schemas.openxmlformats.org/officeDocument/2006/relationships/image" Target="../media/image12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5" Type="http://schemas.openxmlformats.org/officeDocument/2006/relationships/image" Target="../media/image122.png"/><Relationship Id="rId10" Type="http://schemas.openxmlformats.org/officeDocument/2006/relationships/image" Target="../media/image127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8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" Type="http://schemas.openxmlformats.org/officeDocument/2006/relationships/image" Target="../media/image8.png"/><Relationship Id="rId16" Type="http://schemas.openxmlformats.org/officeDocument/2006/relationships/image" Target="../media/image1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11" Type="http://schemas.openxmlformats.org/officeDocument/2006/relationships/image" Target="../media/image136.png"/><Relationship Id="rId5" Type="http://schemas.openxmlformats.org/officeDocument/2006/relationships/image" Target="../media/image131.png"/><Relationship Id="rId15" Type="http://schemas.openxmlformats.org/officeDocument/2006/relationships/image" Target="../media/image140.png"/><Relationship Id="rId10" Type="http://schemas.openxmlformats.org/officeDocument/2006/relationships/image" Target="../media/image135.png"/><Relationship Id="rId4" Type="http://schemas.openxmlformats.org/officeDocument/2006/relationships/image" Target="../media/image130.png"/><Relationship Id="rId9" Type="http://schemas.openxmlformats.org/officeDocument/2006/relationships/image" Target="../media/image1.png"/><Relationship Id="rId14" Type="http://schemas.openxmlformats.org/officeDocument/2006/relationships/image" Target="../media/image1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2.png"/><Relationship Id="rId3" Type="http://schemas.openxmlformats.org/officeDocument/2006/relationships/image" Target="../media/image143.png"/><Relationship Id="rId7" Type="http://schemas.openxmlformats.org/officeDocument/2006/relationships/image" Target="../media/image1.png"/><Relationship Id="rId12" Type="http://schemas.openxmlformats.org/officeDocument/2006/relationships/image" Target="../media/image15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png"/><Relationship Id="rId11" Type="http://schemas.openxmlformats.org/officeDocument/2006/relationships/image" Target="../media/image150.png"/><Relationship Id="rId5" Type="http://schemas.openxmlformats.org/officeDocument/2006/relationships/image" Target="../media/image145.png"/><Relationship Id="rId10" Type="http://schemas.openxmlformats.org/officeDocument/2006/relationships/image" Target="../media/image149.png"/><Relationship Id="rId4" Type="http://schemas.openxmlformats.org/officeDocument/2006/relationships/image" Target="../media/image144.png"/><Relationship Id="rId9" Type="http://schemas.openxmlformats.org/officeDocument/2006/relationships/image" Target="../media/image14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3.png"/><Relationship Id="rId7" Type="http://schemas.openxmlformats.org/officeDocument/2006/relationships/image" Target="../media/image156.png"/><Relationship Id="rId12" Type="http://schemas.openxmlformats.org/officeDocument/2006/relationships/image" Target="../media/image15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5.png"/><Relationship Id="rId11" Type="http://schemas.openxmlformats.org/officeDocument/2006/relationships/image" Target="../media/image158.png"/><Relationship Id="rId5" Type="http://schemas.openxmlformats.org/officeDocument/2006/relationships/image" Target="../media/image154.png"/><Relationship Id="rId10" Type="http://schemas.openxmlformats.org/officeDocument/2006/relationships/hyperlink" Target="https://github.com/badalsahu200ns-png" TargetMode="External"/><Relationship Id="rId4" Type="http://schemas.openxmlformats.org/officeDocument/2006/relationships/image" Target="../media/image1.png"/><Relationship Id="rId9" Type="http://schemas.openxmlformats.org/officeDocument/2006/relationships/hyperlink" Target="https://www.linkedin.com/in/badalsahu200ns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6419850"/>
            <a:ext cx="11220450" cy="257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67296" y="2234058"/>
            <a:ext cx="4257407" cy="679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355"/>
              </a:lnSpc>
            </a:pPr>
            <a:r>
              <a:rPr sz="5100" b="1" i="0" u="none" dirty="0" err="1">
                <a:solidFill>
                  <a:srgbClr val="FFFFFF"/>
                </a:solidFill>
                <a:latin typeface="Space Grotesk"/>
              </a:rPr>
              <a:t>TwinHands</a:t>
            </a:r>
            <a:r>
              <a:rPr sz="5100" b="1" i="0" u="none" dirty="0">
                <a:solidFill>
                  <a:srgbClr val="FFFFFF"/>
                </a:solidFill>
                <a:latin typeface="Space Grotesk"/>
              </a:rPr>
              <a:t>-AI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5487" y="3066454"/>
            <a:ext cx="820102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CBD5E1"/>
                </a:solidFill>
                <a:latin typeface="Space Grotesk Medium"/>
              </a:rPr>
              <a:t>Multimodal Physical AI for Coordinated Bimanual Robotic Manipulation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8387" y="3904654"/>
            <a:ext cx="75152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JetBrains Mono"/>
              </a:rPr>
              <a:t>Natural Language  →  Vision  →  Task Planning  →  Dual-Arm Execution  → 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7862" y="4469546"/>
            <a:ext cx="829627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u="none" dirty="0">
                <a:solidFill>
                  <a:srgbClr val="F1F5F9"/>
                </a:solidFill>
                <a:latin typeface="Inter SemiBold"/>
              </a:rPr>
              <a:t>Presented by Badal Kumar Sahu</a:t>
            </a:r>
            <a:r>
              <a:rPr lang="en-US" sz="1200" b="0" i="0" u="none" dirty="0">
                <a:solidFill>
                  <a:srgbClr val="F1F5F9"/>
                </a:solidFill>
                <a:latin typeface="Inter SemiBold"/>
              </a:rPr>
              <a:t> </a:t>
            </a:r>
            <a:r>
              <a:rPr sz="1200" b="0" i="0" u="none" dirty="0">
                <a:solidFill>
                  <a:srgbClr val="E2E8F0"/>
                </a:solidFill>
                <a:latin typeface="Inter"/>
              </a:rPr>
              <a:t>  </a:t>
            </a:r>
            <a:r>
              <a:rPr sz="1200" b="0" i="0" u="none" dirty="0">
                <a:solidFill>
                  <a:srgbClr val="F1F5F9"/>
                </a:solidFill>
                <a:latin typeface="Inter"/>
              </a:rPr>
              <a:t>  linkedin.com/in/badalsahu200ns </a:t>
            </a:r>
            <a:r>
              <a:rPr sz="120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200" b="0" i="0" u="none" dirty="0">
                <a:solidFill>
                  <a:srgbClr val="F1F5F9"/>
                </a:solidFill>
                <a:latin typeface="Inter"/>
              </a:rPr>
              <a:t>  github.com/badalsahu200ns-png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5590" y="4947642"/>
            <a:ext cx="608081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JetBrains Mono"/>
              </a:rPr>
              <a:t>BUILT WITH  •  MuJoCo  •  Intel OpenVINO  •  Vision-Language-Action (VLA)  •  SO-101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775" y="6524625"/>
            <a:ext cx="2533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JetBrains Mono"/>
              </a:rPr>
              <a:t>TWINHANDS-AI  //  AI INFRA SUMMIT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2825" y="6524625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4D6D"/>
                </a:solidFill>
                <a:latin typeface="JetBrains Mono"/>
              </a:rPr>
              <a:t>SLIDE 01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112" y="1757808"/>
            <a:ext cx="2800350" cy="285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762" y="1757808"/>
            <a:ext cx="2143125" cy="2857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4478" y="1843533"/>
            <a:ext cx="123825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9054" y="4511337"/>
            <a:ext cx="123825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7685" y="4511336"/>
            <a:ext cx="142875" cy="1428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12D5318-1E15-4E0D-AEA2-0F6F0C0F29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30514"/>
            <a:ext cx="3443287" cy="19978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2030313"/>
            <a:ext cx="9334500" cy="22246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4540746"/>
            <a:ext cx="4362450" cy="9096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540746"/>
            <a:ext cx="4362450" cy="9096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6419850"/>
            <a:ext cx="11220450" cy="257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501848"/>
            <a:ext cx="240803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6285" y="506908"/>
            <a:ext cx="1892647" cy="2375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6524625"/>
            <a:ext cx="2533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TWINHANDS-AI  //  AI INFRA SUMMIT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2825" y="6524625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4D6D"/>
                </a:solidFill>
                <a:latin typeface="JetBrains Mono"/>
              </a:rPr>
              <a:t>SLIDE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850" y="2411313"/>
            <a:ext cx="8496300" cy="1119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F8FAFC"/>
                </a:solidFill>
                <a:latin typeface="Space Grotesk"/>
              </a:rPr>
              <a:t>"Humans communicate through high-level goals and intent.</a:t>
            </a:r>
            <a:r>
              <a:t>
</a:t>
            </a:r>
            <a:r>
              <a:rPr sz="2100" b="0" i="0" u="none">
                <a:solidFill>
                  <a:srgbClr val="F8FAFC"/>
                </a:solidFill>
                <a:latin typeface="Space Grotesk"/>
              </a:rPr>
              <a:t> Robots traditionally communicate through coordinates and rigid trajectories."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380" y="3702546"/>
            <a:ext cx="286523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JetBrains Mono"/>
              </a:rPr>
              <a:t>— THE PHYSICAL AI PARADIGM 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9715" y="4740771"/>
            <a:ext cx="416052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4D6D"/>
                </a:solidFill>
                <a:latin typeface="Space Grotesk"/>
              </a:rPr>
              <a:t>Human Intent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8775" y="5036046"/>
            <a:ext cx="39624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F1F5F9"/>
                </a:solidFill>
                <a:latin typeface="Inter"/>
              </a:rPr>
              <a:t>“Prepare the Spider-Man dinner table for four people.”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1700" y="4876502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01765" y="4740771"/>
            <a:ext cx="416052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Space Grotesk"/>
              </a:rPr>
              <a:t>Autonomous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5036046"/>
            <a:ext cx="39624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F1F5F9"/>
                </a:solidFill>
                <a:latin typeface="Inter"/>
              </a:rPr>
              <a:t>Understand  •  Plan  •  Coordinate  •  Act  •  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878" y="428625"/>
            <a:ext cx="11351121" cy="3942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sz="2700" b="1" i="0" u="none">
                <a:solidFill>
                  <a:srgbClr val="FFFFFF"/>
                </a:solidFill>
                <a:latin typeface="Space Grotesk"/>
              </a:rPr>
              <a:t>Vision: Intent to Physical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192535"/>
            <a:ext cx="5457825" cy="3095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92535"/>
            <a:ext cx="5457825" cy="3095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6419850"/>
            <a:ext cx="11220450" cy="257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501848"/>
            <a:ext cx="240803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1890" y="506908"/>
            <a:ext cx="3398639" cy="2375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6524625"/>
            <a:ext cx="25336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TWINHANDS-AI  //  AI INFRA SUMMIT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2825" y="6524625"/>
            <a:ext cx="533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701" y="2449710"/>
            <a:ext cx="4944211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4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Industrial Automation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9326" y="2449710"/>
            <a:ext cx="4944211" cy="2190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4" b="1" i="0" u="none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TwinHands-AI Solution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2470100"/>
            <a:ext cx="177551" cy="1782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3450" y="2821185"/>
            <a:ext cx="47720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Hardcoded Tasks:</a:t>
            </a: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Fixed scripts and inflexible sequences designed for single scenarios only.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3411735"/>
            <a:ext cx="47720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Rigid Layouts:</a:t>
            </a:r>
            <a:r>
              <a:rPr sz="120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Zero tolerance for object misplacement or altered environments.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4002285"/>
            <a:ext cx="47720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Trajectories:</a:t>
            </a:r>
            <a:r>
              <a:rPr sz="120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Engineers must hand-tune waypoints and joint positions manually.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4592835"/>
            <a:ext cx="47720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Recovery:</a:t>
            </a: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Any grasp failure or obstacle halts the entire line indefinitely.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2470100"/>
            <a:ext cx="177551" cy="1782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15125" y="2821185"/>
            <a:ext cx="47529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Intent-Driven VLA:</a:t>
            </a: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Maps open natural language prompts directly to structured JSON task plans.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5125" y="3411735"/>
            <a:ext cx="47529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Layout Synthesis:</a:t>
            </a: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Generates multi-object coordinates on the fly for 1 to 10 humans.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5" y="4002285"/>
            <a:ext cx="47529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Dual-Arm Coordination:</a:t>
            </a: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Balanced parallel workload across 🔴 Left &amp; 🔵 Right arms.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5125" y="4592835"/>
            <a:ext cx="47529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Closed-Loop Verification:</a:t>
            </a: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Visual validation with autonomous re-localization and retry logic.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2859285"/>
            <a:ext cx="1143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3449835"/>
            <a:ext cx="1143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4040385"/>
            <a:ext cx="1143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4630935"/>
            <a:ext cx="11430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6525" y="2859285"/>
            <a:ext cx="13335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6525" y="3449835"/>
            <a:ext cx="13335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6525" y="4040385"/>
            <a:ext cx="13335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6525" y="4630935"/>
            <a:ext cx="133350" cy="152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40878" y="428625"/>
            <a:ext cx="11351121" cy="3942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sz="270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Core Problem in Robotics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606450"/>
            <a:ext cx="2690812" cy="21544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987" y="1606450"/>
            <a:ext cx="2690812" cy="21544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606450"/>
            <a:ext cx="2690812" cy="21544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412" y="1606450"/>
            <a:ext cx="2690812" cy="215443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3913286"/>
            <a:ext cx="3638550" cy="196110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6725" y="3913286"/>
            <a:ext cx="3638550" cy="196110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7675" y="3913286"/>
            <a:ext cx="3638550" cy="196110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" y="6419850"/>
            <a:ext cx="11220450" cy="2571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775" y="501848"/>
            <a:ext cx="240803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6321" y="506908"/>
            <a:ext cx="2778472" cy="2375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85775" y="6524625"/>
            <a:ext cx="25336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TWINHANDS-AI  //  AI INFRA SUMMIT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72825" y="6524625"/>
            <a:ext cx="533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50" y="1844575"/>
            <a:ext cx="2252662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2435125"/>
            <a:ext cx="2365295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2768500"/>
            <a:ext cx="2252662" cy="560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&amp; voice interpretation parsing intent, dinner group sizes, and contextual constraints.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8062" y="1844575"/>
            <a:ext cx="2252662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8062" y="2435125"/>
            <a:ext cx="2365295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8062" y="2768500"/>
            <a:ext cx="2252662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Multi-camera vision pipeline identifying plates, bowls, cups, spoons, and table geometries.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275" y="1844575"/>
            <a:ext cx="2252662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BBF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275" y="2435125"/>
            <a:ext cx="2365295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 &amp;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275" y="2768500"/>
            <a:ext cx="2252662" cy="560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decomposition into structured JSON schemas, obstacle bounding, and collision boundaries.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4487" y="1844575"/>
            <a:ext cx="2252662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4487" y="2435125"/>
            <a:ext cx="2365295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Coordinate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4487" y="2768500"/>
            <a:ext cx="2252662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Bimanual arm allocation optimizing reachability, cycle time, travel distance, and collision safety.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850" y="4151411"/>
            <a:ext cx="3200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850" y="4741961"/>
            <a:ext cx="3360420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 (Primitives)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850" y="5075336"/>
            <a:ext cx="3200400" cy="368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Safe physical execution via 5 core manipulation primitives: Reach, Grasp, Lift, Place, and Release.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5800" y="4151411"/>
            <a:ext cx="3200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BBF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5800" y="4741961"/>
            <a:ext cx="3360420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5800" y="5075336"/>
            <a:ext cx="3200400" cy="368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Inspect final placement accuracy against the digital twin target tolerance (approx. 15 mm).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6750" y="4151411"/>
            <a:ext cx="32004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 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6750" y="4741961"/>
            <a:ext cx="3360420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750" y="5075336"/>
            <a:ext cx="3200400" cy="368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closed-loop failure recovery: re-localize object, update trajectory, and retry seamlessly.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850" y="2006500"/>
            <a:ext cx="200025" cy="2667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48062" y="2006500"/>
            <a:ext cx="304800" cy="2667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91275" y="2006500"/>
            <a:ext cx="304800" cy="2667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34487" y="2006500"/>
            <a:ext cx="333375" cy="2667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4850" y="4313336"/>
            <a:ext cx="333375" cy="2667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95800" y="4313336"/>
            <a:ext cx="266700" cy="2667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86750" y="4313336"/>
            <a:ext cx="266700" cy="2667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40878" y="428625"/>
            <a:ext cx="11351121" cy="3942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sz="270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Mission: Continuous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07468"/>
            <a:ext cx="3613100" cy="226590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375" y="2607468"/>
            <a:ext cx="3613100" cy="226590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607468"/>
            <a:ext cx="3613249" cy="226590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6419850"/>
            <a:ext cx="11220450" cy="257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501848"/>
            <a:ext cx="269378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3815" y="506908"/>
            <a:ext cx="2867025" cy="2375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6524625"/>
            <a:ext cx="25336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TWINHANDS-AI  //  AI INFRA SUMMIT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2825" y="6524625"/>
            <a:ext cx="533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3302793"/>
            <a:ext cx="3333697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VLA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3636168"/>
            <a:ext cx="3174950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Translates speech &amp; visual perception into semantic intent. Uses zero-shot reasoning to comprehend complex dining requests.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450" y="3302793"/>
            <a:ext cx="3333697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8450" y="3636168"/>
            <a:ext cx="3174950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layout generator for arbitrary banquet sizes. Computes Euclidean distances and bimanual workloads dynamically.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2050" y="3302793"/>
            <a:ext cx="3333854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 OpenVINO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2050" y="3636168"/>
            <a:ext cx="3175099" cy="5799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High-throughput, ultra-low latency model quantization (FP32 → FP16 → INT8) accelerating on-device inference for real-time safety.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850" y="2874168"/>
            <a:ext cx="266700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4349501"/>
            <a:ext cx="114300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52625" y="4349501"/>
            <a:ext cx="876300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08450" y="2874168"/>
            <a:ext cx="333375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8450" y="4349501"/>
            <a:ext cx="942975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56200" y="4349501"/>
            <a:ext cx="1209675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2050" y="2874168"/>
            <a:ext cx="266700" cy="2667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2050" y="4349501"/>
            <a:ext cx="1143000" cy="247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59825" y="4349501"/>
            <a:ext cx="809625" cy="2476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69453" y="428625"/>
            <a:ext cx="11322546" cy="3942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sz="270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708" y="3354585"/>
            <a:ext cx="10098583" cy="28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6419850"/>
            <a:ext cx="11220450" cy="257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501848"/>
            <a:ext cx="240803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710" y="506908"/>
            <a:ext cx="2955726" cy="2375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6524625"/>
            <a:ext cx="25336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TWINHANDS-AI  //  AI INFRA SUMMIT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2825" y="6524625"/>
            <a:ext cx="533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06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623" y="2992635"/>
            <a:ext cx="723900" cy="723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5285" y="3868935"/>
            <a:ext cx="212057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User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4116585"/>
            <a:ext cx="2019597" cy="173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"Prepare dinner table for four people"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3762" y="2992635"/>
            <a:ext cx="723900" cy="723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35423" y="3868935"/>
            <a:ext cx="212057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Perception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5913" y="4116585"/>
            <a:ext cx="201959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tableware, bowls, cups &amp; staging area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3901" y="2992635"/>
            <a:ext cx="723900" cy="723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35562" y="3868935"/>
            <a:ext cx="212057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BBF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Task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6052" y="4116585"/>
            <a:ext cx="2019597" cy="173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16-object coordinate map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4039" y="2992635"/>
            <a:ext cx="723900" cy="723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35701" y="3868935"/>
            <a:ext cx="212057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Bimanual Exec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6191" y="4116585"/>
            <a:ext cx="201959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🔴 Left + 🔵 Right coordinate manipulation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34178" y="2992635"/>
            <a:ext cx="723900" cy="7239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35839" y="3868935"/>
            <a:ext cx="212057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4D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Verify &amp; 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86329" y="4116585"/>
            <a:ext cx="2019597" cy="173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check within ~15 mm tolerance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81273" y="3240285"/>
            <a:ext cx="228600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81412" y="3240285"/>
            <a:ext cx="228600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95838" y="3240285"/>
            <a:ext cx="200025" cy="228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67402" y="3240285"/>
            <a:ext cx="257175" cy="2286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81828" y="3240285"/>
            <a:ext cx="228600" cy="2286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40878" y="428625"/>
            <a:ext cx="11351121" cy="3942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sz="270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 End-to-End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28304"/>
            <a:ext cx="3048000" cy="22240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80729"/>
            <a:ext cx="264795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8575" y="2609254"/>
            <a:ext cx="7867650" cy="14620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8600" y="3461742"/>
            <a:ext cx="7467600" cy="4095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8575" y="4223742"/>
            <a:ext cx="1881187" cy="647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4062" y="4223742"/>
            <a:ext cx="1881187" cy="647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29550" y="4223742"/>
            <a:ext cx="1881187" cy="647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5037" y="4223742"/>
            <a:ext cx="1881187" cy="647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775" y="6419850"/>
            <a:ext cx="11220450" cy="257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775" y="501848"/>
            <a:ext cx="183653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81427" y="506908"/>
            <a:ext cx="2955726" cy="23752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5775" y="6524625"/>
            <a:ext cx="25336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TWINHANDS-AI  //  AI INFRA SUMMIT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72825" y="6524625"/>
            <a:ext cx="533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66529"/>
            <a:ext cx="26479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OBJECT 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42754"/>
            <a:ext cx="2647950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975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4</a:t>
            </a:r>
            <a:r>
              <a:rPr sz="975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people, system coordinates exactly </a:t>
            </a:r>
            <a:r>
              <a:rPr sz="975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 objects</a:t>
            </a:r>
            <a:r>
              <a:rPr sz="975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(4 plates, 4 bowls, 4 cups, 4 spoons) autonomously.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8254" y="2817688"/>
            <a:ext cx="7494842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Generalized Table Primitive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38600" y="3133129"/>
            <a:ext cx="7467600" cy="197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Rather than hardcoding separate scripts for 2, 4, or 8 people, the planner uses parametric spatial synthesis: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38600" y="2837854"/>
            <a:ext cx="234404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981450" y="4366617"/>
            <a:ext cx="15954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Plates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1450" y="4595217"/>
            <a:ext cx="1595437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6937" y="4366617"/>
            <a:ext cx="15954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Bowls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76937" y="4595217"/>
            <a:ext cx="1595437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CENTERED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2425" y="4366617"/>
            <a:ext cx="15954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FBBF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Cups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2425" y="4595217"/>
            <a:ext cx="1595437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TOP-RIGHT OFFSET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7912" y="4366617"/>
            <a:ext cx="159543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34D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Spoons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7912" y="4595217"/>
            <a:ext cx="1595437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LATERAL OFFSET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728" y="428625"/>
            <a:ext cx="11408271" cy="3942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sz="270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Dynamic Table Planning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4807148"/>
            <a:ext cx="11220450" cy="438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235398"/>
            <a:ext cx="5457825" cy="2381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2235398"/>
            <a:ext cx="5457825" cy="2381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6419850"/>
            <a:ext cx="11220450" cy="257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501848"/>
            <a:ext cx="269378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3485" y="506908"/>
            <a:ext cx="2424112" cy="2375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5775" y="6524625"/>
            <a:ext cx="25336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TWINHANDS-AI  //  AI INFRA SUMMIT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2825" y="6524625"/>
            <a:ext cx="533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2889" y="4950023"/>
            <a:ext cx="233362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Planner Solves:</a:t>
            </a:r>
            <a:r>
              <a:rPr sz="90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Reachability Bounds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0693" y="4950023"/>
            <a:ext cx="6667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547" y="4950023"/>
            <a:ext cx="14668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Travel Distance Minima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2576" y="4950023"/>
            <a:ext cx="6667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3430" y="4950023"/>
            <a:ext cx="126682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Collision Avoidance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4433" y="4950023"/>
            <a:ext cx="6667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85287" y="4950023"/>
            <a:ext cx="153352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 Time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2498830"/>
            <a:ext cx="5230653" cy="2160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4" b="1" i="0" u="none">
                <a:solidFill>
                  <a:srgbClr val="FF3B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🔴 LEFT ARM (SO-101)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2816423"/>
            <a:ext cx="4981575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Assigned to left-quadrant table items and staging logistics.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4007048"/>
            <a:ext cx="49815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grasping deep-left plates, water jugs, and positioning base silverware with collision evasion.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525" y="2498830"/>
            <a:ext cx="5230653" cy="2160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4" b="1" i="0" u="none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🔵 RIGHT ARM (SO-101)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525" y="2816423"/>
            <a:ext cx="4981575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right-quadrant table accessories and parallel handoffs.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6525" y="4007048"/>
            <a:ext cx="498157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glass placement, bowl stacking, and simultaneous napkin distribution without mutual interference.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9482" y="2492573"/>
            <a:ext cx="1035992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900" y="3168848"/>
            <a:ext cx="1143000" cy="2476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00250" y="3168848"/>
            <a:ext cx="1009650" cy="2476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43250" y="3168848"/>
            <a:ext cx="1009650" cy="2476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86250" y="3168848"/>
            <a:ext cx="1076325" cy="2476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" y="3549848"/>
            <a:ext cx="809625" cy="2476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16591" y="2492573"/>
            <a:ext cx="1351508" cy="2286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6525" y="3168848"/>
            <a:ext cx="1143000" cy="2476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62875" y="3168848"/>
            <a:ext cx="1009650" cy="2476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05875" y="3168848"/>
            <a:ext cx="1009650" cy="2476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48875" y="3168848"/>
            <a:ext cx="1076325" cy="2476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86525" y="3549848"/>
            <a:ext cx="809625" cy="2476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69453" y="428625"/>
            <a:ext cx="11322546" cy="3942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sz="270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Coordinated Bimanual Intelligence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116335"/>
            <a:ext cx="5457825" cy="3248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16335"/>
            <a:ext cx="5457825" cy="1628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3897510"/>
            <a:ext cx="5457825" cy="1028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735460"/>
            <a:ext cx="4981575" cy="3333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3421260"/>
            <a:ext cx="4981575" cy="3333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4107060"/>
            <a:ext cx="4981575" cy="3333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4792860"/>
            <a:ext cx="4981575" cy="3333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2878335"/>
            <a:ext cx="2471737" cy="666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34462" y="2878335"/>
            <a:ext cx="2471737" cy="666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775" y="6419850"/>
            <a:ext cx="11220450" cy="2571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775" y="501848"/>
            <a:ext cx="240803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0306" y="506908"/>
            <a:ext cx="4018657" cy="23752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5775" y="6524625"/>
            <a:ext cx="2533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JetBrains Mono"/>
              </a:rPr>
              <a:t>TWINHANDS-AI  //  AI INFRA SUMMIT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2825" y="6524625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4D6D"/>
                </a:solidFill>
                <a:latin typeface="JetBrains Mono"/>
              </a:rPr>
              <a:t>SLIDE 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6879" y="2354460"/>
            <a:ext cx="495452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BBF24"/>
                </a:solidFill>
                <a:latin typeface="Space Grotesk"/>
              </a:rPr>
              <a:t>Control Hierarchy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900" y="2383035"/>
            <a:ext cx="186779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48425" y="2316360"/>
            <a:ext cx="5310663" cy="209550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3B5C"/>
                </a:solidFill>
                <a:latin typeface="Space Grotesk"/>
              </a:rPr>
              <a:t>Hard Safety Envelopes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2583060"/>
            <a:ext cx="50577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Physical AI must never run open-loop without deterministic boundaries: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9375" y="4078485"/>
            <a:ext cx="5350668" cy="209550"/>
          </a:xfrm>
          <a:prstGeom prst="rect">
            <a:avLst/>
          </a:prstGeom>
          <a:noFill/>
        </p:spPr>
        <p:txBody>
          <a:bodyPr wrap="square" lIns="2000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38BDF8"/>
                </a:solidFill>
                <a:latin typeface="Space Grotesk"/>
              </a:rPr>
              <a:t>Zero-Latency Emergency 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4345185"/>
            <a:ext cx="50958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Hard-wired software E-Stop triggers instantaneous freeze in </a:t>
            </a:r>
            <a:r>
              <a:rPr sz="1050" b="1" i="0" u="none">
                <a:solidFill>
                  <a:srgbClr val="CBD5E1"/>
                </a:solidFill>
                <a:latin typeface="Inter"/>
              </a:rPr>
              <a:t>0 timesteps</a:t>
            </a:r>
            <a:r>
              <a:rPr sz="1050" b="0" i="0" u="none">
                <a:solidFill>
                  <a:srgbClr val="CBD5E1"/>
                </a:solidFill>
                <a:latin typeface="Inter"/>
              </a:rPr>
              <a:t>, halting Cartesian velocity immediately upon obstacle detection.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67062" y="3183135"/>
            <a:ext cx="95250" cy="1238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67062" y="3868935"/>
            <a:ext cx="95250" cy="123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67062" y="4554735"/>
            <a:ext cx="95250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8425" y="2335410"/>
            <a:ext cx="142875" cy="1619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29375" y="4097535"/>
            <a:ext cx="142875" cy="1619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62725" y="2992635"/>
            <a:ext cx="224313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38BDF8"/>
                </a:solidFill>
                <a:latin typeface="Inter"/>
              </a:rPr>
              <a:t>≥ 0.18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2725" y="3297435"/>
            <a:ext cx="224313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94A3B8"/>
                </a:solidFill>
                <a:latin typeface="Inter"/>
              </a:rPr>
              <a:t>MIN TCP CLEARANCE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8762" y="2992635"/>
            <a:ext cx="2243137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FF4D6D"/>
                </a:solidFill>
                <a:latin typeface="Inter"/>
              </a:rPr>
              <a:t>0.58 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8762" y="3287910"/>
            <a:ext cx="2243137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94A3B8"/>
                </a:solidFill>
                <a:latin typeface="Inter"/>
              </a:rPr>
              <a:t>MAX RADIAL REACH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0878" y="428625"/>
            <a:ext cx="11351121" cy="3942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sz="2700" b="1" i="0" u="none">
                <a:solidFill>
                  <a:srgbClr val="FFFFFF"/>
                </a:solidFill>
                <a:latin typeface="Space Grotesk"/>
              </a:rPr>
              <a:t>Robotics and Safety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4733329"/>
            <a:ext cx="5457825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930598"/>
            <a:ext cx="5457825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6419850"/>
            <a:ext cx="11220450" cy="257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501848"/>
            <a:ext cx="307478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823" y="506908"/>
            <a:ext cx="2158454" cy="2375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775" y="6524625"/>
            <a:ext cx="25336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TWINHANDS-AI  //  AI INFRA SUMMIT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2825" y="6524625"/>
            <a:ext cx="533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775" y="2175867"/>
            <a:ext cx="5730716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Before Physical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2556867"/>
            <a:ext cx="5457825" cy="415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full-fidelity digital twin environment modeling the Spider-Man themed restaurant, dual SO-101 bimanual arms, dynamic lighting, and friction-accurate tableware.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4375" y="3352204"/>
            <a:ext cx="5229225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Zero-Risk Prototyping:</a:t>
            </a:r>
            <a:r>
              <a:rPr sz="10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Rapid kinematic and trajectory validation prior to hardware deployment.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375" y="3847504"/>
            <a:ext cx="5229225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Tableware Physics:</a:t>
            </a:r>
            <a:r>
              <a:rPr sz="10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Exact modeling of plates, bowls, cups, spoons, glasses, and jugs.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4342804"/>
            <a:ext cx="5229225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High-Rate Physics:</a:t>
            </a:r>
            <a:r>
              <a:rPr sz="105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Operating at over 48,000 simulated physics steps per second.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7925" y="1940123"/>
            <a:ext cx="5438775" cy="3600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3376017"/>
            <a:ext cx="13335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" y="3871317"/>
            <a:ext cx="133350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775" y="4366617"/>
            <a:ext cx="133350" cy="1428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7553" y="428625"/>
            <a:ext cx="11284446" cy="3942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sz="270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MuJoCo Digital Twin Simulation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887" y="4002285"/>
            <a:ext cx="1743075" cy="847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462" y="4002285"/>
            <a:ext cx="1743075" cy="8477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8037" y="4002285"/>
            <a:ext cx="1743075" cy="847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1051470"/>
            <a:ext cx="11220450" cy="537790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6419850"/>
            <a:ext cx="11220450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501848"/>
            <a:ext cx="212228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7798" y="506908"/>
            <a:ext cx="3575744" cy="2375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775" y="4983360"/>
            <a:ext cx="11220450" cy="161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1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*Verified project benchmark results on edge CPU/iGPU architectures running Intel OpenVINO 2026.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6524625"/>
            <a:ext cx="25336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TWINHANDS-AI  //  AI INFRA SUMMIT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2825" y="6524625"/>
            <a:ext cx="533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2812" y="4164210"/>
            <a:ext cx="1419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7.7×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2812" y="4545210"/>
            <a:ext cx="1419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SPEEDUP FACTOR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6387" y="4164210"/>
            <a:ext cx="1419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263.1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86387" y="4545210"/>
            <a:ext cx="1419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INT8 BENCHMARK FPS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9962" y="4164210"/>
            <a:ext cx="1419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34D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9962" y="4545210"/>
            <a:ext cx="1419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303" y="428625"/>
            <a:ext cx="11379696" cy="3942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sz="270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 OpenVINO Edge Benchmarks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6419850"/>
            <a:ext cx="1122045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501848"/>
            <a:ext cx="240803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2523" y="506908"/>
            <a:ext cx="2601366" cy="2375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5775" y="6524625"/>
            <a:ext cx="25336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TWINHANDS-AI  //  AI INFRA SUMMIT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2825" y="6524625"/>
            <a:ext cx="533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38250" y="1823442"/>
          <a:ext cx="9696447" cy="3833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0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57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4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687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Metric / Subsystem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Empirical Measured 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Design Target / Spec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Simulation Foundation Tests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6 / 6 Test Suites Passed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100% Suite Validation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 PASS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Verified Robotic Actuators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12 Servos (Dual SO-101)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Dual 6-DOF Synchronized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 VERIFIED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Physics Step Latency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20.68 microseconds (μs)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≤ 50 μs per step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 OPTIMAL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68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Simulated Throughput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48,353 steps / second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&gt; 800× 60 Hz Equivalent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 805× REALTIME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768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Nominal FK / IK Error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&lt; 0.01 mm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≤ 1.00 mm tolerance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 SUB-MILLIMETER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769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Emergency Freeze Latency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0 timesteps response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Instantaneous freeze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CBD5E1"/>
                          </a:solidFill>
                          <a:latin typeface="Inter"/>
                        </a:rPr>
                        <a:t> HARD-STOP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1247775" y="2275879"/>
            <a:ext cx="27857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033539" y="2275879"/>
            <a:ext cx="24401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73725" y="2275879"/>
            <a:ext cx="25157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989516" y="2275879"/>
            <a:ext cx="195470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47775" y="2837854"/>
            <a:ext cx="27857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033539" y="2837854"/>
            <a:ext cx="24401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473725" y="2837854"/>
            <a:ext cx="25157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989516" y="2837854"/>
            <a:ext cx="195470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247775" y="3399829"/>
            <a:ext cx="27857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033539" y="3399829"/>
            <a:ext cx="24401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473725" y="3399829"/>
            <a:ext cx="25157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989516" y="3399829"/>
            <a:ext cx="195470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47775" y="3961804"/>
            <a:ext cx="27857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033539" y="3961804"/>
            <a:ext cx="24401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73725" y="3961804"/>
            <a:ext cx="25157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989516" y="3961804"/>
            <a:ext cx="195470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247775" y="4523779"/>
            <a:ext cx="27857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033539" y="4523779"/>
            <a:ext cx="24401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473725" y="4523779"/>
            <a:ext cx="25157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989516" y="4523779"/>
            <a:ext cx="195470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247775" y="5085754"/>
            <a:ext cx="278576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033539" y="5085754"/>
            <a:ext cx="244018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473725" y="5085754"/>
            <a:ext cx="251579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989516" y="5085754"/>
            <a:ext cx="195470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2298" y="2399406"/>
            <a:ext cx="104775" cy="1143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6266" y="4619625"/>
            <a:ext cx="114300" cy="1143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4686" y="2961381"/>
            <a:ext cx="104775" cy="1143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6432" y="5204816"/>
            <a:ext cx="114300" cy="11430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6432" y="4047529"/>
            <a:ext cx="114300" cy="11430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31160" y="3496186"/>
            <a:ext cx="104775" cy="1143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40878" y="426975"/>
            <a:ext cx="11351121" cy="3975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sz="280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 Engineering Results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914078"/>
            <a:ext cx="3613100" cy="182775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9375" y="1914078"/>
            <a:ext cx="3613100" cy="182775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1914078"/>
            <a:ext cx="3613249" cy="182775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" y="3932336"/>
            <a:ext cx="3613100" cy="163443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9375" y="3932336"/>
            <a:ext cx="3613100" cy="163443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975" y="3932336"/>
            <a:ext cx="3613249" cy="163443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" y="6419850"/>
            <a:ext cx="11220450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775" y="501848"/>
            <a:ext cx="240803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81402" y="506908"/>
            <a:ext cx="2247007" cy="2375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5775" y="6524625"/>
            <a:ext cx="25336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TWINHANDS-AI  //  AI INFRA SUMMIT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2825" y="6524625"/>
            <a:ext cx="533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2609403"/>
            <a:ext cx="3333697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Hospitality &amp; Dining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850" y="2942778"/>
            <a:ext cx="3174950" cy="368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table layout preparation, adaptive banquet configuration, and automated dish busing.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8450" y="2609403"/>
            <a:ext cx="3333697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 Manufacturing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8450" y="2942778"/>
            <a:ext cx="3174950" cy="368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Coordinated dual-arm parts assembly, kitting, electronics packaging, and flexible bin picking.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2050" y="2609403"/>
            <a:ext cx="3333854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Laboratory Prep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2050" y="2942778"/>
            <a:ext cx="3175099" cy="368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Pipette and test tube sequencing, chemical mixing protocol execution, and sterile sample handling.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" y="4627661"/>
            <a:ext cx="3333697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Logistics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850" y="4961036"/>
            <a:ext cx="3174950" cy="368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Surgical tray preparation, sterile kit organization, and pharmacy medication distribution.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8450" y="4627661"/>
            <a:ext cx="3333697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Warehousing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8450" y="4961036"/>
            <a:ext cx="3174950" cy="368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Mixed-SKU parcel sorting, carton sealing, fragile good boxing, and returns re-binning.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2050" y="4627661"/>
            <a:ext cx="3333854" cy="219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Assistive Domestic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2050" y="4961036"/>
            <a:ext cx="3175099" cy="3681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Routine daily object manipulation, pantry organization, and high-level physical assistance.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850" y="2180778"/>
            <a:ext cx="238125" cy="2667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8450" y="2180778"/>
            <a:ext cx="304800" cy="2667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2050" y="2180778"/>
            <a:ext cx="333375" cy="2667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4850" y="4199036"/>
            <a:ext cx="304800" cy="2667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08450" y="4199036"/>
            <a:ext cx="333375" cy="2667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12050" y="4199036"/>
            <a:ext cx="333375" cy="2667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40878" y="428625"/>
            <a:ext cx="11351121" cy="3942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sz="270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Cross-Industry Physical AI Uses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792610"/>
            <a:ext cx="2690812" cy="1895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987" y="2792610"/>
            <a:ext cx="2690812" cy="1895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792610"/>
            <a:ext cx="2690812" cy="1895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412" y="2792610"/>
            <a:ext cx="2690812" cy="1895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" y="6419850"/>
            <a:ext cx="11220450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" y="501848"/>
            <a:ext cx="269378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69248" y="506908"/>
            <a:ext cx="2955726" cy="2375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775" y="6524625"/>
            <a:ext cx="25336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TWINHANDS-AI  //  AI INFRA SUMMIT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2825" y="6524625"/>
            <a:ext cx="533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3011685"/>
            <a:ext cx="2365295" cy="184666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Multimodal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8062" y="3011685"/>
            <a:ext cx="2365295" cy="184666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Robotics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3011685"/>
            <a:ext cx="2365295" cy="184666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BBF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 Acceleration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4487" y="3011685"/>
            <a:ext cx="2365295" cy="184666"/>
          </a:xfrm>
          <a:prstGeom prst="rect">
            <a:avLst/>
          </a:prstGeom>
          <a:noFill/>
        </p:spPr>
        <p:txBody>
          <a:bodyPr wrap="square" lIns="2286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4D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&amp; Telemetry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850" y="3030735"/>
            <a:ext cx="15240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4850" y="3326010"/>
            <a:ext cx="2252662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Gemini-style VLA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3630810"/>
            <a:ext cx="2252662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Speech-to-Intent NLP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" y="3935610"/>
            <a:ext cx="2252662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Multi-view RGB-D Vision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" y="4240410"/>
            <a:ext cx="2252662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Object Segmentation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8062" y="3030735"/>
            <a:ext cx="152400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548062" y="3326010"/>
            <a:ext cx="2252662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MuJoCo Physics Kernel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8062" y="3630810"/>
            <a:ext cx="2252662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Dual SO-101 Arms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8062" y="3935610"/>
            <a:ext cx="2252662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Jacobian IK Solvers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8062" y="4240410"/>
            <a:ext cx="2252662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Cartesian Trajectories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91275" y="3030735"/>
            <a:ext cx="152400" cy="152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391275" y="3326010"/>
            <a:ext cx="2252662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Intel OpenVINO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275" y="3630810"/>
            <a:ext cx="2252662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INT8 Post-Training Quant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275" y="3935610"/>
            <a:ext cx="2252662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On-Device CPU/iGPU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275" y="4240410"/>
            <a:ext cx="2252662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Zero-copy Shared Memory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34487" y="3030735"/>
            <a:ext cx="171450" cy="152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234487" y="3326010"/>
            <a:ext cx="2252662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React Robotics Cockpit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4487" y="3630810"/>
            <a:ext cx="2252662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3D Interactive Twin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4487" y="3935610"/>
            <a:ext cx="2252662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Joint Telemetry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4487" y="4240410"/>
            <a:ext cx="2252662" cy="2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Emergency Hardware E-Stop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9453" y="428625"/>
            <a:ext cx="11322546" cy="3942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sz="2700" b="1" i="0" u="none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Technology Stack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373510"/>
            <a:ext cx="5457825" cy="2733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6419850"/>
            <a:ext cx="11220450" cy="257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501848"/>
            <a:ext cx="212228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5542" y="506908"/>
            <a:ext cx="1981200" cy="2375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6524625"/>
            <a:ext cx="253365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TWINHANDS-AI  //  AI INFRA SUMMIT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2825" y="6524625"/>
            <a:ext cx="533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4D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 15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6437" y="2125860"/>
            <a:ext cx="2476500" cy="2476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9329" y="4792860"/>
            <a:ext cx="5730716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Badal Kumar Sahu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775" y="5154810"/>
            <a:ext cx="5457825" cy="185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AI &amp; Robotics Innovator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933575" y="2149778"/>
            <a:ext cx="2624137" cy="24620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86525" y="2611635"/>
            <a:ext cx="5230653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BBF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2925960"/>
            <a:ext cx="4981575" cy="668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for the </a:t>
            </a:r>
            <a:r>
              <a:rPr sz="1125" b="1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Infra Summit Hackathon 2026</a:t>
            </a:r>
            <a:r>
              <a:rPr sz="1125" b="0" i="0" u="none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TwinHands-AI demonstrates how modern Vision-Language-Action models coupled with high-speed physics simulation and Intel OpenVINO edge acceleration can redefine autonomous bimanual robotics.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6877" y="4075687"/>
            <a:ext cx="8626046" cy="738664"/>
          </a:xfrm>
          <a:prstGeom prst="rect">
            <a:avLst/>
          </a:prstGeom>
          <a:noFill/>
        </p:spPr>
        <p:txBody>
          <a:bodyPr wrap="square" lIns="5095875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https</a:t>
            </a:r>
            <a:r>
              <a:rPr sz="100" dirty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://</a:t>
            </a:r>
            <a:r>
              <a:rPr sz="1200" dirty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www.linkedin.com/in/badalsahu200ns/</a:t>
            </a:r>
            <a:endParaRPr lang="en-US" sz="1200" b="0" i="0" u="none" dirty="0">
              <a:solidFill>
                <a:srgbClr val="F1F5F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200" dirty="0">
              <a:solidFill>
                <a:srgbClr val="F1F5F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200" b="0" i="0" u="none" dirty="0">
              <a:solidFill>
                <a:srgbClr val="F1F5F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200" b="0" i="0" u="none" dirty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i="0" u="none" dirty="0">
                <a:solidFill>
                  <a:srgbClr val="E2E8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0" i="0" u="none" dirty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b="0" i="0" u="none" dirty="0">
                <a:solidFill>
                  <a:srgbClr val="F1F5F9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https://github.com/badalsahu200ns-png </a:t>
            </a:r>
            <a:endParaRPr lang="en-US" sz="1200" b="0" i="0" u="none" dirty="0">
              <a:solidFill>
                <a:srgbClr val="F1F5F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7500" y="4097535"/>
            <a:ext cx="15240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67500" y="4592835"/>
            <a:ext cx="161925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2303" y="428625"/>
            <a:ext cx="11379696" cy="3942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04"/>
              </a:lnSpc>
            </a:pPr>
            <a:r>
              <a:rPr sz="2700" b="1" i="0" u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Creator Spotlight: Badal Kumar Sahu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6419850"/>
            <a:ext cx="11220450" cy="257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375" y="1691580"/>
            <a:ext cx="857250" cy="857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98116" y="2777430"/>
            <a:ext cx="6195618" cy="607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784"/>
              </a:lnSpc>
            </a:pPr>
            <a:r>
              <a:rPr sz="4350" b="1" i="0" u="none">
                <a:solidFill>
                  <a:srgbClr val="FFFFFF"/>
                </a:solidFill>
                <a:latin typeface="Space Grotesk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3712" y="3537495"/>
            <a:ext cx="61245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"The future of robotics shouldn't start with hardcoded coordinates.</a:t>
            </a:r>
            <a:r>
              <a:t>
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It should start with human intent."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8008" y="4337595"/>
            <a:ext cx="1685925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u="none" dirty="0">
                <a:solidFill>
                  <a:srgbClr val="F1F5F9"/>
                </a:solidFill>
                <a:latin typeface="Inter"/>
              </a:rPr>
              <a:t>  Connect on LinkedIn </a:t>
            </a:r>
            <a:r>
              <a:rPr sz="1200" b="0" i="0" u="none" dirty="0">
                <a:solidFill>
                  <a:srgbClr val="E2E8F0"/>
                </a:solidFill>
                <a:latin typeface="Inter"/>
              </a:rPr>
              <a:t> </a:t>
            </a:r>
            <a:r>
              <a:rPr sz="1200" b="0" i="0" u="none" dirty="0">
                <a:solidFill>
                  <a:srgbClr val="F1F5F9"/>
                </a:solidFill>
                <a:latin typeface="Inter"/>
              </a:rPr>
              <a:t>  Star on GitHub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5004345"/>
            <a:ext cx="44196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JetBrains Mono"/>
              </a:rPr>
              <a:t>TwinHands-AI  •  Badal Kumar Sahu  •  AI Infra Summit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775" y="6524625"/>
            <a:ext cx="25336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JetBrains Mono"/>
              </a:rPr>
              <a:t>TWINHANDS-AI  //  AI INFRA SUMMIT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2825" y="6524625"/>
            <a:ext cx="5334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4D6D"/>
                </a:solidFill>
                <a:latin typeface="JetBrains Mono"/>
              </a:rPr>
              <a:t>SLIDE 16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6450" y="1910655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7814" y="4689648"/>
            <a:ext cx="267384" cy="30852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3575" y="4737645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1322</Words>
  <Application>Microsoft Office PowerPoint</Application>
  <PresentationFormat>Widescreen</PresentationFormat>
  <Paragraphs>222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Calibri</vt:lpstr>
      <vt:lpstr>Inter</vt:lpstr>
      <vt:lpstr>Inter SemiBold</vt:lpstr>
      <vt:lpstr>JetBrains Mono</vt:lpstr>
      <vt:lpstr>Space Grotesk</vt:lpstr>
      <vt:lpstr>Space Grotesk Medium</vt:lpstr>
      <vt:lpstr>Space Grotesk SemiBold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Badal sahu</dc:creator>
  <cp:keywords/>
  <dc:description>generated using python-pptx</dc:description>
  <cp:lastModifiedBy>Badal sahu</cp:lastModifiedBy>
  <cp:revision>3</cp:revision>
  <dcterms:created xsi:type="dcterms:W3CDTF">2013-01-27T09:14:16Z</dcterms:created>
  <dcterms:modified xsi:type="dcterms:W3CDTF">2026-09-16T02:29:36Z</dcterms:modified>
  <cp:category/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